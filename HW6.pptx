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1" r:id="rId3"/>
    <p:sldId id="259" r:id="rId4"/>
    <p:sldId id="260" r:id="rId5"/>
    <p:sldId id="258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37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70888" y="1295401"/>
            <a:ext cx="8650224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3895" y="1524000"/>
            <a:ext cx="8664211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895" y="3299013"/>
            <a:ext cx="8664212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718" y="3352802"/>
            <a:ext cx="11222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718" y="4771030"/>
            <a:ext cx="11222567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494640" y="363538"/>
            <a:ext cx="1120272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7" y="2403145"/>
            <a:ext cx="10742084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7" y="3736006"/>
            <a:ext cx="10742084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7" y="107576"/>
            <a:ext cx="10723035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367" y="1600201"/>
            <a:ext cx="512064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4761" y="1600201"/>
            <a:ext cx="512064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5" y="107576"/>
            <a:ext cx="10723035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5" y="1453225"/>
            <a:ext cx="512064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365" y="2347416"/>
            <a:ext cx="512064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4760" y="1453225"/>
            <a:ext cx="512064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4760" y="2347416"/>
            <a:ext cx="512064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99" y="611872"/>
            <a:ext cx="512064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765" y="368300"/>
            <a:ext cx="512064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199" y="1787856"/>
            <a:ext cx="512064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98" y="611872"/>
            <a:ext cx="5439393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198" y="1787856"/>
            <a:ext cx="5439393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6787489" y="359393"/>
            <a:ext cx="48768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6389" y="368301"/>
            <a:ext cx="2032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365" y="368301"/>
            <a:ext cx="8919635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2367" y="107576"/>
            <a:ext cx="10723035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7" y="1600201"/>
            <a:ext cx="10723035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06447" y="627566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7F71C68-24F9-644F-9F76-1704DFEA77F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611" y="6275669"/>
            <a:ext cx="6454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0541" y="6275669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 #6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7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67" y="1444532"/>
            <a:ext cx="8362298" cy="4343400"/>
          </a:xfrm>
        </p:spPr>
        <p:txBody>
          <a:bodyPr/>
          <a:lstStyle/>
          <a:p>
            <a:r>
              <a:rPr lang="en-US" dirty="0"/>
              <a:t>Semantics</a:t>
            </a:r>
          </a:p>
          <a:p>
            <a:endParaRPr lang="en-US" dirty="0"/>
          </a:p>
          <a:p>
            <a:pPr lvl="1"/>
            <a:r>
              <a:rPr lang="en-US" dirty="0"/>
              <a:t>Gain better understanding of semantic representations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Develop experience with lambda calculus and FOL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Create semantic attachments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Understand semantic composition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5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#6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67" y="1444532"/>
            <a:ext cx="8548761" cy="4343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Compositional Semantics:</a:t>
            </a:r>
          </a:p>
          <a:p>
            <a:pPr lvl="1"/>
            <a:r>
              <a:rPr lang="en-US" dirty="0"/>
              <a:t>Part 1: *Manually* create target semantic representations</a:t>
            </a:r>
          </a:p>
          <a:p>
            <a:pPr lvl="2"/>
            <a:r>
              <a:rPr lang="en-US" dirty="0"/>
              <a:t>Use Neo-</a:t>
            </a:r>
            <a:r>
              <a:rPr lang="en-US" dirty="0" err="1"/>
              <a:t>Davidsonian</a:t>
            </a:r>
            <a:r>
              <a:rPr lang="en-US" dirty="0"/>
              <a:t> event representation</a:t>
            </a:r>
          </a:p>
          <a:p>
            <a:pPr lvl="3"/>
            <a:r>
              <a:rPr lang="en-US" dirty="0"/>
              <a:t>E.g. verb representation with event variable, argument conjuncts</a:t>
            </a:r>
          </a:p>
          <a:p>
            <a:pPr lvl="2"/>
            <a:r>
              <a:rPr lang="en-US" dirty="0"/>
              <a:t>Can view as test cases for part 2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Part 2: Create semantic attachments to reproduce (NLTK)</a:t>
            </a:r>
          </a:p>
          <a:p>
            <a:pPr lvl="2"/>
            <a:r>
              <a:rPr lang="en-US" dirty="0"/>
              <a:t>Add to grammatical rules to derive sentence representations</a:t>
            </a:r>
          </a:p>
          <a:p>
            <a:pPr lvl="2"/>
            <a:endParaRPr lang="en-US" dirty="0"/>
          </a:p>
          <a:p>
            <a:r>
              <a:rPr lang="en-US" dirty="0"/>
              <a:t>Note: Lots of ambiguities (scope,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Just produce one</a:t>
            </a:r>
          </a:p>
        </p:txBody>
      </p:sp>
    </p:spTree>
    <p:extLst>
      <p:ext uri="{BB962C8B-B14F-4D97-AF65-F5344CB8AC3E}">
        <p14:creationId xmlns:p14="http://schemas.microsoft.com/office/powerpoint/2010/main" val="257947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in NLTK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Grammar files: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fcfg</a:t>
            </a:r>
            <a:r>
              <a:rPr lang="en-US" dirty="0"/>
              <a:t> extension</a:t>
            </a:r>
          </a:p>
          <a:p>
            <a:pPr lvl="1"/>
            <a:r>
              <a:rPr lang="en-US" dirty="0"/>
              <a:t>Example format in NLTK Ch. 10 and on-line</a:t>
            </a:r>
          </a:p>
          <a:p>
            <a:pPr lvl="2"/>
            <a:r>
              <a:rPr lang="en-US" dirty="0"/>
              <a:t>E.g.,  /corpora/</a:t>
            </a:r>
            <a:r>
              <a:rPr lang="en-US" dirty="0" err="1"/>
              <a:t>nltk</a:t>
            </a:r>
            <a:r>
              <a:rPr lang="en-US" dirty="0"/>
              <a:t>/</a:t>
            </a:r>
            <a:r>
              <a:rPr lang="en-US" dirty="0" err="1"/>
              <a:t>nltk</a:t>
            </a:r>
            <a:r>
              <a:rPr lang="en-US" dirty="0"/>
              <a:t>-data/grammars/</a:t>
            </a:r>
            <a:r>
              <a:rPr lang="en-US" dirty="0" err="1"/>
              <a:t>book_grammars</a:t>
            </a:r>
            <a:r>
              <a:rPr lang="en-US" dirty="0"/>
              <a:t>/simple-</a:t>
            </a:r>
            <a:r>
              <a:rPr lang="en-US" dirty="0" err="1"/>
              <a:t>sem.fcfg</a:t>
            </a:r>
            <a:endParaRPr lang="en-US" dirty="0"/>
          </a:p>
          <a:p>
            <a:pPr marL="685800" lvl="2" indent="0">
              <a:buNone/>
            </a:pPr>
            <a:r>
              <a:rPr lang="en-US" dirty="0"/>
              <a:t>	Note: These examples are not “event-style”; your verbs will need the event structure.</a:t>
            </a:r>
          </a:p>
          <a:p>
            <a:r>
              <a:rPr lang="en-US" dirty="0"/>
              <a:t>Parsing: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nltk.parse.FeatureChartParser</a:t>
            </a:r>
            <a:r>
              <a:rPr lang="en-US" dirty="0"/>
              <a:t> (or similar)</a:t>
            </a:r>
          </a:p>
          <a:p>
            <a:pPr lvl="2"/>
            <a:endParaRPr lang="en-US" dirty="0"/>
          </a:p>
          <a:p>
            <a:r>
              <a:rPr lang="en-US" dirty="0"/>
              <a:t>Printing semantic representations:</a:t>
            </a:r>
          </a:p>
          <a:p>
            <a:pPr lvl="1"/>
            <a:r>
              <a:rPr lang="en-US" dirty="0" err="1"/>
              <a:t>item.label</a:t>
            </a:r>
            <a:r>
              <a:rPr lang="en-US" dirty="0"/>
              <a:t>()[‘SEM’].simplify()</a:t>
            </a:r>
          </a:p>
          <a:p>
            <a:pPr lvl="2"/>
            <a:r>
              <a:rPr lang="en-US" dirty="0"/>
              <a:t>all x.(dog(x) -&gt; exists e.(barking(e) &amp; barker(</a:t>
            </a:r>
            <a:r>
              <a:rPr lang="en-US" dirty="0" err="1"/>
              <a:t>e,x</a:t>
            </a:r>
            <a:r>
              <a:rPr lang="en-US" dirty="0"/>
              <a:t>)))</a:t>
            </a:r>
          </a:p>
          <a:p>
            <a:pPr lvl="1"/>
            <a:r>
              <a:rPr lang="en-US" dirty="0"/>
              <a:t>Also </a:t>
            </a:r>
            <a:r>
              <a:rPr lang="en-US" dirty="0" err="1"/>
              <a:t>nltk.sem.util.root_semrep</a:t>
            </a:r>
            <a:r>
              <a:rPr lang="en-US" dirty="0"/>
              <a:t>(item)</a:t>
            </a:r>
          </a:p>
        </p:txBody>
      </p:sp>
    </p:spTree>
    <p:extLst>
      <p:ext uri="{BB962C8B-B14F-4D97-AF65-F5344CB8AC3E}">
        <p14:creationId xmlns:p14="http://schemas.microsoft.com/office/powerpoint/2010/main" val="1427207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attachments in NLTK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67" y="1444532"/>
            <a:ext cx="8042276" cy="4343400"/>
          </a:xfrm>
        </p:spPr>
        <p:txBody>
          <a:bodyPr>
            <a:normAutofit lnSpcReduction="10000"/>
          </a:bodyPr>
          <a:lstStyle/>
          <a:p>
            <a:r>
              <a:rPr lang="sk-SK" dirty="0"/>
              <a:t>FOL syntax:</a:t>
            </a:r>
          </a:p>
          <a:p>
            <a:pPr lvl="1"/>
            <a:r>
              <a:rPr lang="sk-SK" dirty="0">
                <a:latin typeface="Universal Math 1"/>
                <a:cs typeface="Universal Math 1"/>
              </a:rPr>
              <a:t>l </a:t>
            </a:r>
            <a:r>
              <a:rPr lang="sk-SK" dirty="0">
                <a:latin typeface="Universal Math 1"/>
                <a:cs typeface="Universal Math 1"/>
                <a:sym typeface="Wingdings"/>
              </a:rPr>
              <a:t> </a:t>
            </a:r>
            <a:r>
              <a:rPr lang="sk-SK" dirty="0">
                <a:cs typeface="Universal Math 1"/>
                <a:sym typeface="Wingdings"/>
              </a:rPr>
              <a:t>\</a:t>
            </a:r>
          </a:p>
          <a:p>
            <a:pPr lvl="1"/>
            <a:r>
              <a:rPr lang="en-US" dirty="0"/>
              <a:t>∃ </a:t>
            </a:r>
            <a:r>
              <a:rPr lang="en-US" dirty="0">
                <a:sym typeface="Wingdings"/>
              </a:rPr>
              <a:t> exists</a:t>
            </a:r>
          </a:p>
          <a:p>
            <a:pPr lvl="1"/>
            <a:r>
              <a:rPr lang="en-US" dirty="0">
                <a:sym typeface="Wingdings"/>
              </a:rPr>
              <a:t>     all</a:t>
            </a:r>
          </a:p>
          <a:p>
            <a:pPr lvl="1"/>
            <a:r>
              <a:rPr lang="en-US" dirty="0">
                <a:sym typeface="Wingdings"/>
              </a:rPr>
              <a:t>     &amp; </a:t>
            </a:r>
          </a:p>
          <a:p>
            <a:pPr lvl="1"/>
            <a:r>
              <a:rPr lang="en-US" dirty="0">
                <a:sym typeface="Wingdings"/>
              </a:rPr>
              <a:t>     |</a:t>
            </a:r>
          </a:p>
          <a:p>
            <a:pPr lvl="1"/>
            <a:r>
              <a:rPr lang="en-US" dirty="0">
                <a:sym typeface="Wingdings"/>
              </a:rPr>
              <a:t>  -&gt;</a:t>
            </a:r>
          </a:p>
          <a:p>
            <a:pPr lvl="1"/>
            <a:r>
              <a:rPr lang="sk-SK" dirty="0">
                <a:cs typeface="Universal Math 1"/>
              </a:rPr>
              <a:t>a,b,e,x: lowercase lambda variables can be arguments,</a:t>
            </a:r>
          </a:p>
          <a:p>
            <a:pPr lvl="2"/>
            <a:r>
              <a:rPr lang="sk-SK" dirty="0">
                <a:cs typeface="Universal Math 1"/>
              </a:rPr>
              <a:t>\x.dog(x)</a:t>
            </a:r>
          </a:p>
          <a:p>
            <a:pPr lvl="1"/>
            <a:r>
              <a:rPr lang="sk-SK" dirty="0">
                <a:cs typeface="Universal Math 1"/>
              </a:rPr>
              <a:t>P,Q,X: uppercase lambda variables are functors</a:t>
            </a:r>
          </a:p>
          <a:p>
            <a:pPr lvl="2"/>
            <a:r>
              <a:rPr lang="sk-SK" dirty="0">
                <a:cs typeface="Universal Math 1"/>
              </a:rPr>
              <a:t>\P.P(john)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633274"/>
              </p:ext>
            </p:extLst>
          </p:nvPr>
        </p:nvGraphicFramePr>
        <p:xfrm>
          <a:off x="1403531" y="2562865"/>
          <a:ext cx="405429" cy="437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" imgH="165100" progId="Equation.3">
                  <p:embed/>
                </p:oleObj>
              </mc:Choice>
              <mc:Fallback>
                <p:oleObj name="Equation" r:id="rId2" imgW="152400" imgH="165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3531" y="2562865"/>
                        <a:ext cx="405429" cy="437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948490"/>
              </p:ext>
            </p:extLst>
          </p:nvPr>
        </p:nvGraphicFramePr>
        <p:xfrm>
          <a:off x="1403531" y="3000111"/>
          <a:ext cx="358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127000" progId="Equation.3">
                  <p:embed/>
                </p:oleObj>
              </mc:Choice>
              <mc:Fallback>
                <p:oleObj name="Equation" r:id="rId4" imgW="127000" imgH="127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3531" y="3000111"/>
                        <a:ext cx="358775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038027"/>
              </p:ext>
            </p:extLst>
          </p:nvPr>
        </p:nvGraphicFramePr>
        <p:xfrm>
          <a:off x="1368120" y="3360474"/>
          <a:ext cx="476250" cy="393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7000" imgH="127000" progId="Equation.3">
                  <p:embed/>
                </p:oleObj>
              </mc:Choice>
              <mc:Fallback>
                <p:oleObj name="Equation" r:id="rId6" imgW="127000" imgH="127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68120" y="3360474"/>
                        <a:ext cx="476250" cy="393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479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NLTK Logic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Added to typical CFG rules</a:t>
            </a:r>
          </a:p>
          <a:p>
            <a:pPr lvl="1"/>
            <a:r>
              <a:rPr lang="en-US"/>
              <a:t>Composing </a:t>
            </a:r>
            <a:r>
              <a:rPr lang="en-US" dirty="0"/>
              <a:t>semantics:</a:t>
            </a:r>
          </a:p>
          <a:p>
            <a:pPr lvl="2"/>
            <a:r>
              <a:rPr lang="sk-SK" dirty="0"/>
              <a:t>S[SEM=&lt;?np(?vp)&gt;] -&gt; NP[SEM=?np] VP[SEM=?vp]</a:t>
            </a:r>
          </a:p>
          <a:p>
            <a:r>
              <a:rPr lang="sk-SK" dirty="0"/>
              <a:t>Creating lambdas:</a:t>
            </a:r>
          </a:p>
          <a:p>
            <a:pPr lvl="1"/>
            <a:r>
              <a:rPr lang="sk-SK" dirty="0"/>
              <a:t>IV[SEM=&lt;\x. exists e. (barking(e) &amp; barker(e,x))&gt;] -&gt; 'barks‘</a:t>
            </a:r>
          </a:p>
          <a:p>
            <a:r>
              <a:rPr lang="sk-SK" dirty="0"/>
              <a:t>Nested lambdas:</a:t>
            </a:r>
          </a:p>
          <a:p>
            <a:pPr marL="685800" lvl="2" indent="0">
              <a:buNone/>
            </a:pPr>
            <a:r>
              <a:rPr lang="sk-SK" dirty="0"/>
              <a:t>\x.\y. Etc </a:t>
            </a:r>
            <a:r>
              <a:rPr lang="sk-SK" dirty="0">
                <a:sym typeface="Wingdings"/>
              </a:rPr>
              <a:t> \x y.</a:t>
            </a:r>
          </a:p>
          <a:p>
            <a:pPr marL="685800" lvl="2" indent="0">
              <a:buNone/>
            </a:pPr>
            <a:r>
              <a:rPr lang="sk-SK" dirty="0">
                <a:sym typeface="Wingdings"/>
              </a:rPr>
              <a:t>Can remove `.‘ between sequences of lambda elements</a:t>
            </a:r>
          </a:p>
          <a:p>
            <a:pPr marL="685800" lvl="2" indent="0">
              <a:buNone/>
            </a:pPr>
            <a:r>
              <a:rPr lang="sk-SK" dirty="0">
                <a:sym typeface="Wingdings"/>
              </a:rPr>
              <a:t>Keep `.‘ between sections: lambdas, quantifiers, body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86461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2642</TotalTime>
  <Words>369</Words>
  <Application>Microsoft Macintosh PowerPoint</Application>
  <PresentationFormat>Widescreen</PresentationFormat>
  <Paragraphs>58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Universal Math 1</vt:lpstr>
      <vt:lpstr>News Gothic MT</vt:lpstr>
      <vt:lpstr>Wingdings</vt:lpstr>
      <vt:lpstr>Wingdings 2</vt:lpstr>
      <vt:lpstr>Breeze</vt:lpstr>
      <vt:lpstr>Equation</vt:lpstr>
      <vt:lpstr>Homework #6</vt:lpstr>
      <vt:lpstr>Goals</vt:lpstr>
      <vt:lpstr>HW #6 Tasks</vt:lpstr>
      <vt:lpstr>Semantics in NLTK</vt:lpstr>
      <vt:lpstr>Semantic attachments in NLTK</vt:lpstr>
      <vt:lpstr>More NLTK Logic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#6</dc:title>
  <dc:creator>Gina-Anne Levow</dc:creator>
  <cp:lastModifiedBy>Gina-Anne Levow</cp:lastModifiedBy>
  <cp:revision>11</cp:revision>
  <dcterms:created xsi:type="dcterms:W3CDTF">2015-02-11T22:37:44Z</dcterms:created>
  <dcterms:modified xsi:type="dcterms:W3CDTF">2026-02-11T17:57:28Z</dcterms:modified>
</cp:coreProperties>
</file>